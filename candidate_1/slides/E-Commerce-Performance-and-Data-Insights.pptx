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3.png"/><Relationship Id="rId8" Type="http://schemas.openxmlformats.org/officeDocument/2006/relationships/image" Target="../media/image-2-4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277653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E-Commerce Performance &amp; Data Insights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3762177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Translating 1M+ Transactions into Growth, Efficiency, and Risk Mitigation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0493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Ensuring Data Reliability at Scale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397397"/>
            <a:ext cx="10795524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data infrastructure successfully processed over one million records with precision, maintaining financial audit integrity while eliminating pipeline errors.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58925" y="2146102"/>
            <a:ext cx="295664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1.04M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98086" y="2898477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Total Sales Records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98086" y="3234234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Sales transactions ingested and processed across the full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17426" y="2146102"/>
            <a:ext cx="295664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1.80%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356586" y="2898477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Overall Return Rate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356586" y="3234234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Lean return rate maintained across all product categories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75927" y="2146102"/>
            <a:ext cx="2956645" cy="559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2,071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015087" y="2898477"/>
            <a:ext cx="3478423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Orphaned Returns Handled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015087" y="3234234"/>
            <a:ext cx="3478423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Returns missing a parent sale resolved via relational nullification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4060329"/>
            <a:ext cx="2523467" cy="202505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2795" y="4248845"/>
            <a:ext cx="20702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Scale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62795" y="4642247"/>
            <a:ext cx="2070247" cy="1003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Successfully ingested and processed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1,041,670 sales records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18,744 returns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without pipeline disruption.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614" y="4060329"/>
            <a:ext cx="2523467" cy="202505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0323" y="4248845"/>
            <a:ext cx="20702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Hygiene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630323" y="4642247"/>
            <a:ext cx="2070247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Maintained a lean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1.80% overall return rate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while cleanly handling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2,071 orphaned returns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via relational nullification.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8964" y="4060329"/>
            <a:ext cx="2523467" cy="202505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3673" y="4248845"/>
            <a:ext cx="20702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Impact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573673" y="4642247"/>
            <a:ext cx="2070247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Preserved critical financial audit trails without breaking warehouse pipelines or inflating phantom error metrics.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6493" y="4060329"/>
            <a:ext cx="2523467" cy="202505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1202" y="4248845"/>
            <a:ext cx="2070247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Outcome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241202" y="4642247"/>
            <a:ext cx="2070247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Clean, reliable data foundation enabling confident executive decision-making across all downstream analytics.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0628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Trends &amp; Q4 Holiday Surges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32731"/>
            <a:ext cx="4660883" cy="23304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21168" y="1532731"/>
            <a:ext cx="403909" cy="403920"/>
          </a:xfrm>
          <a:prstGeom prst="ellipse">
            <a:avLst/>
          </a:prstGeom>
          <a:solidFill>
            <a:srgbClr val="F3F3FF"/>
          </a:solidFill>
          <a:ln w="1905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86601" y="1594445"/>
            <a:ext cx="461335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Peak Performance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886601" y="2019995"/>
            <a:ext cx="4613358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November consistently drives massive revenue spikes —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$1.47M in Nov 2010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$1.51M in Nov 2011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fueled by 26–30%+ MoM growth surges in autumn months.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21168" y="3161407"/>
            <a:ext cx="403909" cy="403920"/>
          </a:xfrm>
          <a:prstGeom prst="ellipse">
            <a:avLst/>
          </a:prstGeom>
          <a:solidFill>
            <a:srgbClr val="F3F3FF"/>
          </a:solidFill>
          <a:ln w="1905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6601" y="3223121"/>
            <a:ext cx="461335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Post-Holiday Contractions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886601" y="3648670"/>
            <a:ext cx="4613358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Noticeable revenue dips occur every January (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-45.2% in Jan 2011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 and December closeouts, reflecting predictable seasonal drawdown.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21168" y="4790083"/>
            <a:ext cx="403909" cy="403920"/>
          </a:xfrm>
          <a:prstGeom prst="ellipse">
            <a:avLst/>
          </a:prstGeom>
          <a:solidFill>
            <a:srgbClr val="F3F3FF"/>
          </a:solidFill>
          <a:ln w="1905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86601" y="4851797"/>
            <a:ext cx="4613358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Strategic Implication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886601" y="5277346"/>
            <a:ext cx="4613358" cy="8182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 model is heavily dictated by Q4 holiday seasonality, requiring forward-looking inventory planning starting in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Q3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13247"/>
            <a:ext cx="10795524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Geographic Breakdown: The United Kingdom Dominance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090142"/>
            <a:ext cx="4888584" cy="335567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47302" y="1928019"/>
            <a:ext cx="4874594" cy="3716635"/>
          </a:xfrm>
          <a:prstGeom prst="roundRect">
            <a:avLst>
              <a:gd name="adj" fmla="val 10949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916763" y="2072084"/>
            <a:ext cx="453567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Market Concentration Analysis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916763" y="2465487"/>
            <a:ext cx="4535672" cy="882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</a:t>
            </a:r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United Kingdom generates $14.72M</a:t>
            </a:r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 revenue, acting as our primary core market and anchoring overall cash flow.</a:t>
            </a:r>
            <a:endParaRPr lang="en-US" sz="13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International markets follow at a significant distance: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916763" y="3477617"/>
            <a:ext cx="4535672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EIRE: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$621K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Netherlands: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$554K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Germany: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$431K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France:</a:t>
            </a:r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$355K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16763" y="4762202"/>
            <a:ext cx="4535672" cy="752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While the UK anchors cash flow, emerging European markets show strong secondary demand that can support targeted localized marketing and geographic diversification.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Product Analytics: Volume vs. Margin Bleed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98086" y="781248"/>
            <a:ext cx="11405108" cy="68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Top-line revenue numbers can be deceptive — high-revenue products are simultaneously bleeding profit through reverse logistics and operational friction.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98086" y="894556"/>
            <a:ext cx="5318686" cy="95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Revenue &amp; Volume Leaders</a:t>
            </a:r>
            <a:endParaRPr lang="en-US" sz="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013520"/>
            <a:ext cx="3457092" cy="2488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3525540"/>
            <a:ext cx="5318686" cy="50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spcAft>
                <a:spcPts val="100"/>
              </a:spcAft>
              <a:buNone/>
            </a:pPr>
            <a:endParaRPr lang="en-US" sz="500" dirty="0"/>
          </a:p>
          <a:p>
            <a:pPr algn="l" indent="0" marL="0">
              <a:lnSpc>
                <a:spcPct val="88000"/>
              </a:lnSpc>
              <a:spcAft>
                <a:spcPts val="100"/>
              </a:spcAft>
              <a:buNone/>
            </a:pPr>
            <a:endParaRPr lang="en-US" sz="500" dirty="0"/>
          </a:p>
          <a:p>
            <a:pPr algn="l" indent="0" marL="0">
              <a:lnSpc>
                <a:spcPct val="88000"/>
              </a:lnSpc>
              <a:spcAft>
                <a:spcPts val="100"/>
              </a:spcAft>
              <a:buNone/>
            </a:pPr>
            <a:endParaRPr lang="en-US" sz="500" dirty="0"/>
          </a:p>
          <a:p>
            <a:pPr algn="l" indent="0" marL="0">
              <a:lnSpc>
                <a:spcPct val="88000"/>
              </a:lnSpc>
              <a:spcAft>
                <a:spcPts val="100"/>
              </a:spcAft>
              <a:buNone/>
            </a:pPr>
            <a:endParaRPr lang="en-US" sz="500" dirty="0"/>
          </a:p>
          <a:p>
            <a:pPr algn="l" indent="0" marL="0">
              <a:lnSpc>
                <a:spcPct val="88000"/>
              </a:lnSpc>
              <a:spcAft>
                <a:spcPts val="100"/>
              </a:spcAft>
              <a:buNone/>
            </a:pP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698086" y="4051201"/>
            <a:ext cx="5928271" cy="85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SKU 84077 leads in raw unit volume with 110,138 units sold.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81273" y="894556"/>
            <a:ext cx="5318686" cy="95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Top Products by Unit Volume</a:t>
            </a:r>
            <a:endParaRPr lang="en-US" sz="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273" y="1013520"/>
            <a:ext cx="3457092" cy="24884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81273" y="3615234"/>
            <a:ext cx="5318686" cy="95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Return Rate Risk: Item M</a:t>
            </a:r>
            <a:endParaRPr lang="en-US" sz="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273" y="3734197"/>
            <a:ext cx="3457092" cy="248840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181273" y="6246217"/>
            <a:ext cx="5318686" cy="138906"/>
          </a:xfrm>
          <a:prstGeom prst="roundRect">
            <a:avLst>
              <a:gd name="adj" fmla="val 49999"/>
            </a:avLst>
          </a:prstGeom>
          <a:solidFill>
            <a:srgbClr val="FFB3B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061" y="6283424"/>
            <a:ext cx="80960" cy="6479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91810" y="6281341"/>
            <a:ext cx="5652946" cy="68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Item M Return Rate: 45.29%</a:t>
            </a:r>
            <a:pPr algn="l" indent="0" marL="0">
              <a:lnSpc>
                <a:spcPct val="88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— 399 returns out of 881 sales. Hidden margin erosion and customer dissatisfaction demand immediate investigation.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9444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Transaction Economics: Average Order Value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583193" y="1290340"/>
            <a:ext cx="4314320" cy="4938117"/>
          </a:xfrm>
          <a:prstGeom prst="roundRect">
            <a:avLst>
              <a:gd name="adj" fmla="val 8877"/>
            </a:avLst>
          </a:prstGeom>
          <a:solidFill>
            <a:srgbClr val="2D4DF2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42733" y="1417935"/>
            <a:ext cx="3995241" cy="281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$523.31</a:t>
            </a:r>
            <a:endParaRPr lang="en-US" sz="8850" dirty="0"/>
          </a:p>
        </p:txBody>
      </p:sp>
      <p:sp>
        <p:nvSpPr>
          <p:cNvPr id="5" name="Text 3"/>
          <p:cNvSpPr/>
          <p:nvPr/>
        </p:nvSpPr>
        <p:spPr>
          <a:xfrm>
            <a:off x="742733" y="4361755"/>
            <a:ext cx="3995241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Average Order Value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2733" y="4724003"/>
            <a:ext cx="4604825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 transaction invoice across the full dataset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78295" y="1433909"/>
            <a:ext cx="398949" cy="3989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78295" y="1992412"/>
            <a:ext cx="632156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Business Validation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78295" y="2354659"/>
            <a:ext cx="632156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high AOV indicates strong basket sizes, validating our current product bundling and multi-item purchasing behavior across the customer base.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78295" y="3069332"/>
            <a:ext cx="398949" cy="3989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78295" y="3627834"/>
            <a:ext cx="632156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Strategic Advantage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178295" y="3990082"/>
            <a:ext cx="632156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Provides healthy breathing room for customer acquisition costs and supports sustainable unit economics across our entire customer base.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78295" y="4704755"/>
            <a:ext cx="398949" cy="3989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78295" y="5263257"/>
            <a:ext cx="6321565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Benchmark Significance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178295" y="5625505"/>
            <a:ext cx="6321565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At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$523.31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the AOV benchmark positions the business favorably for margin expansion through upsell and cross-sell optimization.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8791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Actionable Next Steps for Executive Growth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566168"/>
            <a:ext cx="3478522" cy="3739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5170" y="1688604"/>
            <a:ext cx="28425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12988" y="2340074"/>
            <a:ext cx="30487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Audit High-Return Flagships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12988" y="2726630"/>
            <a:ext cx="3048717" cy="236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Immediately investigate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Item M (45.29% return rate)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resolve sizing, quality, or description mismatches draining margins and customer satisfaction. Engage product, logistics, and customer experience teams in a structured root-cause review.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6586" y="1566168"/>
            <a:ext cx="3478522" cy="3739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3671" y="1688604"/>
            <a:ext cx="28425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1489" y="2340074"/>
            <a:ext cx="304871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Pre-Position Q4 Inventory Early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4571489" y="3005237"/>
            <a:ext cx="3048717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Capitalize on predictable Q4 holiday spikes (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November surges exceeding $1.5M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) by locking down supply chains and warehouse staffing by late Q3. Seasonal demand patterns are consistent and forecastable.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5087" y="1566168"/>
            <a:ext cx="3478522" cy="37399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12171" y="1688604"/>
            <a:ext cx="284255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8229989" y="2340074"/>
            <a:ext cx="304871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De-risk Geographic Concentration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229989" y="3005237"/>
            <a:ext cx="3048717" cy="1773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Protect against domestic market saturation by scaling localized acquisition efforts in high-performing European hubs like the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Netherlands ($554K)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Germany ($431K)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to reduce UK dependency.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982340" y="5711130"/>
            <a:ext cx="11120854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Robust data architecture transforms raw transactions into protective, profit-driving strategies.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98086" y="5508625"/>
            <a:ext cx="25399" cy="700584"/>
          </a:xfrm>
          <a:prstGeom prst="roundRect">
            <a:avLst>
              <a:gd name="adj" fmla="val 50001"/>
            </a:avLst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2026-09-04T16:14:19Z</dcterms:created>
  <dcterms:modified xsi:type="dcterms:W3CDTF">2026-09-04T16:14:19Z</dcterms:modified>
</cp:coreProperties>
</file>